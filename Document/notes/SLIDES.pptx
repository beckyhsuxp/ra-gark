
<file path=[Content_Types].xml><?xml version="1.0" encoding="utf-8"?>
<ct:Types xmlns:ct="http://schemas.openxmlformats.org/package/2006/content-types">
  <ct:Default Extension="jpeg" ContentType="image/jpeg"/>
  <ct:Default Extension="png" ContentType="image/png"/>
  <ct:Default Extension="rels" ContentType="application/vnd.openxmlformats-package.relationships+xml"/>
  <ct:Default Extension="xml" ContentType="application/xml"/>
  <ct:Override PartName="/ppt/presentation.xml" ContentType="application/vnd.openxmlformats-officedocument.presentationml.presentation.main+xml"/>
  <ct:Override PartName="/ppt/slideMasters/slideMaster1.xml" ContentType="application/vnd.openxmlformats-officedocument.presentationml.slideMaster+xml"/>
  <ct:Override PartName="/ppt/notesMasters/notesMaster1.xml" ContentType="application/vnd.openxmlformats-officedocument.presentationml.notesMaster+xml"/>
  <ct:Override PartName="/ppt/presProps.xml" ContentType="application/vnd.openxmlformats-officedocument.presentationml.presProps+xml"/>
  <ct:Override PartName="/ppt/viewProps.xml" ContentType="application/vnd.openxmlformats-officedocument.presentationml.viewProps+xml"/>
  <ct:Override PartName="/ppt/theme/theme1.xml" ContentType="application/vnd.openxmlformats-officedocument.theme+xml"/>
  <ct:Override PartName="/ppt/tableStyles.xml" ContentType="application/vnd.openxmlformats-officedocument.presentationml.tableStyles+xml"/>
  <ct:Override PartName="/ppt/slideLayouts/slideLayout1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slideLayouts/slideLayout11.xml" ContentType="application/vnd.openxmlformats-officedocument.presentationml.slideLayout+xml"/>
  <ct:Override PartName="/ppt/theme/theme2.xml" ContentType="application/vnd.openxmlformats-officedocument.theme+xml"/>
  <ct:Override PartName="/ppt/notesSlides/notesSlide1.xml" ContentType="application/vnd.openxmlformats-officedocument.presentationml.notesSlide+xml"/>
  <ct:Override PartName="/ppt/notesSlides/notesSlide2.xml" ContentType="application/vnd.openxmlformats-officedocument.presentationml.notesSlide+xml"/>
  <ct:Override PartName="/ppt/notesSlides/notesSlide3.xml" ContentType="application/vnd.openxmlformats-officedocument.presentationml.notesSlide+xml"/>
  <ct:Override PartName="/ppt/notesSlides/notesSlide4.xml" ContentType="application/vnd.openxmlformats-officedocument.presentationml.notesSlide+xml"/>
  <ct:Override PartName="/docProps/core.xml" ContentType="application/vnd.openxmlformats-package.core-properties+xml"/>
  <ct:Override PartName="/docProps/app.xml" ContentType="application/vnd.openxmlformats-officedocument.extended-properties+xml"/>
  <ct:Override PartName="/ppt/slides/slide1.xml" ContentType="application/vnd.openxmlformats-officedocument.presentationml.slide+xml"/>
  <ct:Override PartName="/ppt/slides/slide2.xml" ContentType="application/vnd.openxmlformats-officedocument.presentationml.slide+xml"/>
  <ct:Override PartName="/ppt/slides/slide3.xml" ContentType="application/vnd.openxmlformats-officedocument.presentationml.slide+xml"/>
  <ct:Override PartName="/ppt/slides/slide4.xml" ContentType="application/vnd.openxmlformats-officedocument.presentationml.slide+xml"/>
  <ct:Override PartName="/ppt/slides/slide5.xml" ContentType="application/vnd.openxmlformats-officedocument.presentationml.slide+xml"/>
  <ct:Override PartName="/ppt/slides/slide6.xml" ContentType="application/vnd.openxmlformats-officedocument.presentationml.slide+xml"/>
  <ct:Override PartName="/ppt/slides/slide7.xml" ContentType="application/vnd.openxmlformats-officedocument.presentationml.slide+xml"/>
  <ct:Override PartName="/ppt/slides/slide8.xml" ContentType="application/vnd.openxmlformats-officedocument.presentationml.slide+xml"/>
  <ct:Override PartName="/ppt/slides/slide9.xml" ContentType="application/vnd.openxmlformats-officedocument.presentationml.slide+xml"/>
  <ct:Override PartName="/ppt/slides/slide10.xml" ContentType="application/vnd.openxmlformats-officedocument.presentationml.slide+xml"/>
  <ct:Override PartName="/ppt/slides/slide11.xml" ContentType="application/vnd.openxmlformats-officedocument.presentationml.slide+xml"/>
  <ct:Override PartName="/ppt/slides/slide12.xml" ContentType="application/vnd.openxmlformats-officedocument.presentationml.slide+xml"/>
  <ct:Override PartName="/ppt/slides/slide13.xml" ContentType="application/vnd.openxmlformats-officedocument.presentationml.slide+xml"/>
  <ct:Override PartName="/ppt/slides/slide14.xml" ContentType="application/vnd.openxmlformats-officedocument.presentationml.slide+xml"/>
  <ct:Override PartName="/ppt/slides/slide15.xml" ContentType="application/vnd.openxmlformats-officedocument.presentationml.slide+xml"/>
  <ct:Override PartName="/ppt/slides/slide16.xml" ContentType="application/vnd.openxmlformats-officedocument.presentationml.slide+xml"/>
  <ct:Override PartName="/ppt/slides/slide17.xml" ContentType="application/vnd.openxmlformats-officedocument.presentationml.slide+xml"/>
  <ct:Override PartName="/ppt/slides/slide18.xml" ContentType="application/vnd.openxmlformats-officedocument.presentationml.slide+xml"/>
  <ct:Override PartName="/ppt/slides/slide19.xml" ContentType="application/vnd.openxmlformats-officedocument.presentationml.slide+xml"/>
  <ct:Override PartName="/ppt/slides/slide20.xml" ContentType="application/vnd.openxmlformats-officedocument.presentationml.slide+xml"/>
  <ct:Override PartName="/ppt/slides/slide21.xml" ContentType="application/vnd.openxmlformats-officedocument.presentationml.slide+xml"/>
  <ct:Override PartName="/ppt/slides/slide22.xml" ContentType="application/vnd.openxmlformats-officedocument.presentationml.slide+xml"/>
  <ct:Override PartName="/ppt/slides/slide23.xml" ContentType="application/vnd.openxmlformats-officedocument.presentationml.slide+xml"/>
  <ct:Override PartName="/ppt/slides/slide24.xml" ContentType="application/vnd.openxmlformats-officedocument.presentationml.slide+xml"/>
  <ct:Override PartName="/ppt/slides/slide25.xml" ContentType="application/vnd.openxmlformats-officedocument.presentationml.slide+xml"/>
  <ct:Override PartName="/ppt/slides/slide26.xml" ContentType="application/vnd.openxmlformats-officedocument.presentationml.slide+xml"/>
  <ct:Override PartName="/ppt/slides/slide27.xml" ContentType="application/vnd.openxmlformats-officedocument.presentationml.slide+xml"/>
  <ct:Override PartName="/ppt/slides/slide28.xml" ContentType="application/vnd.openxmlformats-officedocument.presentationml.slide+xml"/>
  <ct:Override PartName="/ppt/slides/slide29.xml" ContentType="application/vnd.openxmlformats-officedocument.presentationml.slide+xml"/>
  <ct:Override PartName="/ppt/slides/slide30.xml" ContentType="application/vnd.openxmlformats-officedocument.presentationml.slide+xml"/>
  <ct:Override PartName="/ppt/slides/slide31.xml" ContentType="application/vnd.openxmlformats-officedocument.presentationml.slide+xml"/>
  <ct:Override PartName="/ppt/slides/slide32.xml" ContentType="application/vnd.openxmlformats-officedocument.presentationml.slide+xml"/>
</ct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384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F3F2"/>
    <a:srgbClr val="EAEBF8"/>
    <a:srgbClr val="D2EFEB"/>
    <a:srgbClr val="D7F3EC"/>
    <a:srgbClr val="D7DCF8"/>
    <a:srgbClr val="FBDDDA"/>
    <a:srgbClr val="FBCAC9"/>
    <a:srgbClr val="F8808B"/>
    <a:srgbClr val="E0F3F1"/>
    <a:srgbClr val="D5D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5517"/>
  </p:normalViewPr>
  <p:slideViewPr>
    <p:cSldViewPr snapToGrid="0">
      <p:cViewPr>
        <p:scale>
          <a:sx n="145" d="100"/>
          <a:sy n="145" d="100"/>
        </p:scale>
        <p:origin x="144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pr:Relationships xmlns:pr="http://schemas.openxmlformats.org/package/2006/relationships"><pr:Relationship Id="rId8" Type="http://schemas.openxmlformats.org/officeDocument/2006/relationships/notesMaster" Target="notesMasters/notesMaster1.xml" /><pr:Relationship Id="rId12" Type="http://schemas.openxmlformats.org/officeDocument/2006/relationships/tableStyles" Target="tableStyles.xml" /><pr:Relationship Id="rId1" Type="http://schemas.openxmlformats.org/officeDocument/2006/relationships/slideMaster" Target="slideMasters/slideMaster1.xml" /><pr:Relationship Id="rId11" Type="http://schemas.openxmlformats.org/officeDocument/2006/relationships/theme" Target="theme/theme1.xml" /><pr:Relationship Id="rId10" Type="http://schemas.openxmlformats.org/officeDocument/2006/relationships/viewProps" Target="viewProps.xml" /><pr:Relationship Id="rId9" Type="http://schemas.openxmlformats.org/officeDocument/2006/relationships/presProps" Target="presProps.xml" /><pr:Relationship Id="rId2" Type="http://schemas.openxmlformats.org/officeDocument/2006/relationships/slide" Target="slides/slide1.xml" /><pr:Relationship Id="rId3" Type="http://schemas.openxmlformats.org/officeDocument/2006/relationships/slide" Target="slides/slide2.xml" /><pr:Relationship Id="rId4" Type="http://schemas.openxmlformats.org/officeDocument/2006/relationships/slide" Target="slides/slide3.xml" /><pr:Relationship Id="rId5" Type="http://schemas.openxmlformats.org/officeDocument/2006/relationships/slide" Target="slides/slide4.xml" /><pr:Relationship Id="rId6" Type="http://schemas.openxmlformats.org/officeDocument/2006/relationships/slide" Target="slides/slide5.xml" /><pr:Relationship Id="rId7" Type="http://schemas.openxmlformats.org/officeDocument/2006/relationships/slide" Target="slides/slide6.xml" /><pr:Relationship Id="rId13" Type="http://schemas.openxmlformats.org/officeDocument/2006/relationships/slide" Target="slides/slide7.xml" /><pr:Relationship Id="rId14" Type="http://schemas.openxmlformats.org/officeDocument/2006/relationships/slide" Target="slides/slide8.xml" /><pr:Relationship Id="rId15" Type="http://schemas.openxmlformats.org/officeDocument/2006/relationships/slide" Target="slides/slide9.xml" /><pr:Relationship Id="rId16" Type="http://schemas.openxmlformats.org/officeDocument/2006/relationships/slide" Target="slides/slide10.xml" /><pr:Relationship Id="rId17" Type="http://schemas.openxmlformats.org/officeDocument/2006/relationships/slide" Target="slides/slide11.xml" /><pr:Relationship Id="rId18" Type="http://schemas.openxmlformats.org/officeDocument/2006/relationships/slide" Target="slides/slide12.xml" /><pr:Relationship Id="rId19" Type="http://schemas.openxmlformats.org/officeDocument/2006/relationships/slide" Target="slides/slide13.xml" /><pr:Relationship Id="rId20" Type="http://schemas.openxmlformats.org/officeDocument/2006/relationships/slide" Target="slides/slide14.xml" /><pr:Relationship Id="rId21" Type="http://schemas.openxmlformats.org/officeDocument/2006/relationships/slide" Target="slides/slide15.xml" /><pr:Relationship Id="rId22" Type="http://schemas.openxmlformats.org/officeDocument/2006/relationships/slide" Target="slides/slide16.xml" /><pr:Relationship Id="rId23" Type="http://schemas.openxmlformats.org/officeDocument/2006/relationships/slide" Target="slides/slide17.xml" /><pr:Relationship Id="rId24" Type="http://schemas.openxmlformats.org/officeDocument/2006/relationships/slide" Target="slides/slide18.xml" /><pr:Relationship Id="rId25" Type="http://schemas.openxmlformats.org/officeDocument/2006/relationships/slide" Target="slides/slide19.xml" /><pr:Relationship Id="rId26" Type="http://schemas.openxmlformats.org/officeDocument/2006/relationships/slide" Target="slides/slide20.xml" /><pr:Relationship Id="rId27" Type="http://schemas.openxmlformats.org/officeDocument/2006/relationships/slide" Target="slides/slide21.xml" /><pr:Relationship Id="rId28" Type="http://schemas.openxmlformats.org/officeDocument/2006/relationships/slide" Target="slides/slide22.xml" /><pr:Relationship Id="rId29" Type="http://schemas.openxmlformats.org/officeDocument/2006/relationships/slide" Target="slides/slide23.xml" /><pr:Relationship Id="rId30" Type="http://schemas.openxmlformats.org/officeDocument/2006/relationships/slide" Target="slides/slide24.xml" /><pr:Relationship Id="rId31" Type="http://schemas.openxmlformats.org/officeDocument/2006/relationships/slide" Target="slides/slide25.xml" /><pr:Relationship Id="rId32" Type="http://schemas.openxmlformats.org/officeDocument/2006/relationships/slide" Target="slides/slide26.xml" /><pr:Relationship Id="rId33" Type="http://schemas.openxmlformats.org/officeDocument/2006/relationships/slide" Target="slides/slide27.xml" /><pr:Relationship Id="rId34" Type="http://schemas.openxmlformats.org/officeDocument/2006/relationships/slide" Target="slides/slide28.xml" /><pr:Relationship Id="rId35" Type="http://schemas.openxmlformats.org/officeDocument/2006/relationships/slide" Target="slides/slide29.xml" /><pr:Relationship Id="rId36" Type="http://schemas.openxmlformats.org/officeDocument/2006/relationships/slide" Target="slides/slide30.xml" /><pr:Relationship Id="rId37" Type="http://schemas.openxmlformats.org/officeDocument/2006/relationships/slide" Target="slides/slide31.xml" /><pr:Relationship Id="rId38" Type="http://schemas.openxmlformats.org/officeDocument/2006/relationships/slide" Target="slides/slide32.xml" /></pr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5A23F-80FA-944B-B64A-12301C8BEC59}" type="datetimeFigureOut">
              <a:rPr kumimoji="1" lang="zh-TW" altLang="en-US" smtClean="0"/>
              <a:t>2026/6/10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2AAF2-8E63-D844-8730-3621242CB7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43948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2AAF2-8E63-D844-8730-3621242CB7CB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70090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2AAF2-8E63-D844-8730-3621242CB7C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22730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2AAF2-8E63-D844-8730-3621242CB7CB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59796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2AAF2-8E63-D844-8730-3621242CB7CB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5071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391C17-B020-4CD7-298D-D399944F3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9B231F3-5A44-0A37-E797-B26AD298E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E1BDE1-F05F-57CC-0AAC-943B286B5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6386D8-D63E-5DAA-50CF-F9171D3B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1CBD38-835C-99CB-8C87-6185CD4D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375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5203DB-133C-C125-B710-2473B8550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6727EF-3583-1FCA-6B6A-FD784AAA5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8C1EBD-0511-D65B-6D05-EB6A47C9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D1CBA0-1D09-4F33-B7A2-377227DA7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37C70B-DE31-B51A-AB33-2CC7D8789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3180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87A8FA-4EEC-59D2-5A25-5665B95A2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202D57E-234F-C7A3-9C42-7FA1C4CF3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985DA7-9811-EEF4-3A59-49634F24D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C5CE41-8825-D619-844A-A005132FE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665A83-D102-EF73-109C-07918588B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2476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91983F-AC79-3022-D184-B1987A73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BF5996-61D1-4A15-C44F-8A78CE8E4C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9F9FF7D-CBC4-7271-8B0D-51142AB4C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329F57B-14D6-6107-14C5-BA41761E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B90D165-5B6A-F258-21EF-CC9E2FD70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435919-C30B-4FAF-82CD-6AB8C486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654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780EDF-B4FD-D7C9-C79F-4BC5F90CC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9641586-0136-6C26-1AD0-0D19BEE16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DE68842-A991-2F9D-33AC-7CF198F54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BB5E7B7-A4DB-DFEC-5A9D-2DF6C7268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E051FBC-9649-1815-4736-649B8FECA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2DBDAAF-5610-A886-3524-CDE4D532F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AE7A69F-640C-24CF-852A-69142453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8722D62-9765-878B-CAFB-DDBE42C8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2596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2EAF3A-F275-AA8E-B399-3B60A5CAE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295C5F3-2AB4-3FBF-31E5-90AEFB9A8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4A9EED1-73EE-8A74-CB3D-27B7D51DE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FFD872D-FA49-05D0-8A7C-E5A5848C7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1785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4E3DA2E-462D-0682-6EF8-A751D1834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D6C1EDD-E4EB-6F6D-DA30-05B10EBE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739590-20A0-E414-A81F-8F08595F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8536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82E0B0-836A-B4F8-B58D-AE87C1C6E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ACF688-D66B-3DF9-56A8-67B88BAD3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41D4577-179D-BCF7-7956-19F494EBD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A86BD6F-597E-E8DE-DEB2-91C850EA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8322631-C171-A8D8-DD22-FD071E1E5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0775B9F-D082-6373-4360-76BFA580A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60464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25DA14-8D6C-A46E-C1EA-2634DE715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D70D346-DF0A-BD1B-4E68-8424B6F169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14D0DDA-C623-2317-4174-DBC5F06C2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7805E5-7902-FE4A-F3A4-3B124196A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1AA0A6-9F04-5BE8-2AEA-C906DC54E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8A5A964-24C3-51DB-1995-3380C2DC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0450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60E403-399E-3CB1-9B65-43E558D9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0355A6-66F3-26B3-B3C4-31B1B4EE9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A5C86-DE88-5596-B653-33EB4DDE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7B78FE-3CA8-40EE-B2C1-4B7E407E2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00A960-F2F2-2FDD-FB3B-621C6388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5734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59D3CB0-E9FC-6DE7-A66A-AF87924B6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E6908D6-B571-618A-5BF7-A6D7223C1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A8658A-BBD9-8084-A2D6-348027A17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7226B0-03D5-9939-6920-F67F08C71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88A122-FE26-A7A1-01A4-91843F3C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73131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C7C7E5C-8089-26D9-9973-5367F7D49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46C932-B1FA-F6F1-A91B-0EA20D27D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2FE51F-DF5E-7EF9-F216-04AC8B5B58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6C9B6-C88C-E641-8D49-71A2BB1D34B4}" type="datetimeFigureOut">
              <a:rPr kumimoji="1" lang="zh-TW" altLang="en-US" smtClean="0"/>
              <a:t>2026/6/10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642B56-3003-AF5B-6025-F2D55AF58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6DE68B-2FA3-A3B4-F383-FAA8726C6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60227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2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3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4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5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6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7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8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9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10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11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12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pr:Relationship Id="rId2" Type="http://schemas.openxmlformats.org/officeDocument/2006/relationships/image" Target="../media/image101.png" /></pr:Relationships>
</file>

<file path=ppt/slides/_rels/slide13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14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15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16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17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18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pr:Relationship Id="rId2" Type="http://schemas.openxmlformats.org/officeDocument/2006/relationships/image" Target="../media/image102.png" /></pr:Relationships>
</file>

<file path=ppt/slides/_rels/slide19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20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21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22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pr:Relationship Id="rId2" Type="http://schemas.openxmlformats.org/officeDocument/2006/relationships/image" Target="../media/image103.png" /></pr:Relationships>
</file>

<file path=ppt/slides/_rels/slide23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pr:Relationship Id="rId2" Type="http://schemas.openxmlformats.org/officeDocument/2006/relationships/image" Target="../media/image104.png" /></pr:Relationships>
</file>

<file path=ppt/slides/_rels/slide24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25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26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27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28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29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30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_rels/slide31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pr:Relationship Id="rId2" Type="http://schemas.openxmlformats.org/officeDocument/2006/relationships/image" Target="../media/image105.png" /></pr:Relationships>
</file>

<file path=ppt/slides/_rels/slide32.xml.rels><?xml version='1.0' encoding='utf-8'?>
<pr:Relationships xmlns:pr="http://schemas.openxmlformats.org/package/2006/relationships"><pr:Relationship Id="rId1" Type="http://schemas.openxmlformats.org/officeDocument/2006/relationships/slideLayout" Target="../slideLayouts/slideLayout7.xml" /></pr: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AccentBar"/>
          <p:cNvSpPr txBox="1"/>
          <p:nvPr/>
        </p:nvSpPr>
        <p:spPr>
          <a:xfrm>
            <a:off x="0" y="0"/>
            <a:ext cx="438912" cy="6858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AccentBand"/>
          <p:cNvSpPr txBox="1"/>
          <p:nvPr/>
        </p:nvSpPr>
        <p:spPr>
          <a:xfrm>
            <a:off x="914400" y="822960"/>
            <a:ext cx="9875520" cy="128016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10" name="TitleLine1"/>
          <p:cNvSpPr txBox="1"/>
          <p:nvPr/>
        </p:nvSpPr>
        <p:spPr>
          <a:xfrm>
            <a:off x="914400" y="100584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3400" b="1" lang="zh-TW">
                <a:solidFill>
                  <a:srgbClr val="16324F"/>
                </a:solidFill>
              </a:rPr>
              <a:t>RA-GARK</a:t>
            </a:r>
            <a:endParaRPr sz="3400"/>
          </a:p>
        </p:txBody>
      </p:sp>
      <p:sp>
        <p:nvSpPr>
          <p:cNvPr id="11" name="TitleLine2"/>
          <p:cNvSpPr txBox="1"/>
          <p:nvPr/>
        </p:nvSpPr>
        <p:spPr>
          <a:xfrm>
            <a:off x="914400" y="173736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000" lang="zh-TW">
                <a:solidFill>
                  <a:srgbClr val="1C2430"/>
                </a:solidFill>
              </a:rPr>
              <a:t>Product Recommendation via Rationale-Aware Gating over Sparse Review-Aspect Knowledge Graphs</a:t>
            </a:r>
            <a:endParaRPr sz="2000"/>
          </a:p>
        </p:txBody>
      </p:sp>
      <p:sp>
        <p:nvSpPr>
          <p:cNvPr id="12" name="TitleLine3"/>
          <p:cNvSpPr txBox="1"/>
          <p:nvPr/>
        </p:nvSpPr>
        <p:spPr>
          <a:xfrm>
            <a:off x="914400" y="214884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000" lang="zh-TW">
                <a:solidFill>
                  <a:srgbClr val="1C2430"/>
                </a:solidFill>
              </a:rPr>
              <a:t>基於理由感知門控與稀疏評論面向知識圖譜之產品推薦</a:t>
            </a:r>
            <a:endParaRPr sz="2000"/>
          </a:p>
        </p:txBody>
      </p:sp>
      <p:sp>
        <p:nvSpPr>
          <p:cNvPr id="13" name="TitleLine4"/>
          <p:cNvSpPr txBox="1"/>
          <p:nvPr/>
        </p:nvSpPr>
        <p:spPr>
          <a:xfrm>
            <a:off x="914400" y="2743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500" lang="zh-TW">
                <a:solidFill>
                  <a:srgbClr val="1C2430"/>
                </a:solidFill>
              </a:rPr>
              <a:t>KG-aware Recommendation · Sparse KG · Rationale-aware Gating · Graceful Degradation</a:t>
            </a:r>
            <a:endParaRPr sz="1500"/>
          </a:p>
        </p:txBody>
      </p:sp>
      <p:sp>
        <p:nvSpPr>
          <p:cNvPr id="20" name="TakeawayBox"/>
          <p:cNvSpPr txBox="1"/>
          <p:nvPr/>
        </p:nvSpPr>
        <p:spPr>
          <a:xfrm>
            <a:off x="868680" y="3703320"/>
            <a:ext cx="10698480" cy="1005840"/>
          </a:xfrm>
          <a:prstGeom prst="roundRect">
            <a:avLst/>
          </a:prstGeom>
          <a:solidFill>
            <a:srgbClr val="EAF3F5"/>
          </a:solidFill>
          <a:ln>
            <a:solidFill>
              <a:srgbClr val="B7D8DF"/>
            </a:solidFill>
          </a:ln>
        </p:spPr>
        <p:txBody>
          <a:bodyPr wrap="square"/>
          <a:lstStyle/>
          <a:p>
            <a:endParaRPr/>
          </a:p>
        </p:txBody>
      </p:sp>
      <p:sp>
        <p:nvSpPr>
          <p:cNvPr id="21" name="TakeawayText"/>
          <p:cNvSpPr txBox="1"/>
          <p:nvPr/>
        </p:nvSpPr>
        <p:spPr>
          <a:xfrm>
            <a:off x="1097280" y="3858768"/>
            <a:ext cx="101498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b="1" lang="zh-TW">
                <a:solidFill>
                  <a:srgbClr val="16324F"/>
                </a:solidFill>
              </a:rPr>
              <a:t>Main idea</a:t>
            </a:r>
            <a:endParaRPr sz="1800"/>
          </a:p>
          <a:p>
            <a:r>
              <a:rPr sz="1800" lang="zh-TW">
                <a:solidFill>
                  <a:srgbClr val="16324F"/>
                </a:solidFill>
              </a:rPr>
              <a:t>KG should be a gateable side channel, not a mandatory scoring path.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noFill/>
          <a:ln>
            <a:noFill/>
          </a:ln>
          <a:xfrm>
            <a:off x="11064240" y="6263640"/>
            <a:ext cx="548640" cy="219456"/>
          </a:xfrm>
        </p:spPr>
        <p:txBody>
          <a:bodyPr/>
          <a:lstStyle/>
          <a:p>
            <a:r>
              <a:rPr sz="1050" lang="en-US">
                <a:solidFill>
                  <a:srgbClr val="6A7380"/>
                </a:solidFill>
              </a:rPr>
              <a:t>01</a:t>
            </a:r>
            <a:endParaRPr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Roadmap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30 分鐘配置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Introduction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Related Work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Methodology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Experiments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Conclusion &amp; future work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Focus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Methodology is the main part; related work is only for positioning.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02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Motivation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500" lang="zh-TW" b="1">
                <a:solidFill>
                  <a:srgbClr val="1C2430"/>
                </a:solidFill>
              </a:rPr>
              <a:t>Sparse KG breaks KG-aware recommendation</a:t>
            </a:r>
            <a:endParaRPr sz="1500"/>
          </a:p>
          <a:p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Method | NDCG@20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|---|---:|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MCCLK | 0.1067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KGCL | 0.1073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KGAT | 0.1079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KGRec | 0.1095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Pure LightGCN | 0.1179 |</a:t>
            </a:r>
            <a:endParaRPr sz="1500"/>
          </a:p>
          <a:p>
            <a:endParaRPr sz="1500"/>
          </a:p>
          <a:p>
            <a:r>
              <a:rPr sz="1500" lang="zh-TW" b="1">
                <a:solidFill>
                  <a:srgbClr val="1C2430"/>
                </a:solidFill>
              </a:rPr>
              <a:t>Key point</a:t>
            </a:r>
            <a:endParaRPr sz="1500"/>
          </a:p>
          <a:p>
            <a:endParaRPr sz="1500"/>
          </a:p>
          <a:p>
            <a:r>
              <a:rPr sz="1500" lang="zh-TW">
                <a:solidFill>
                  <a:srgbClr val="1C2430"/>
                </a:solidFill>
              </a:rPr>
              <a:t>On this sparse KG, every KG-aware baseline loses to pure LightGCN.</a:t>
            </a:r>
            <a:endParaRPr sz="15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03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Why Sparse KG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Where sparse KG comes from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review-derived KGs inherit their density from whatever users happened to mention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cold-start and emerging domains rarely have a curated KG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privacy-constrained domains deliberately restrict relational signals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aggressive KG completion introduces its own noise and needs seed signal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What this means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sparse KG is the more common practical setting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robustness under unreliable KG signal deserves dedicated study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the primary design objective is robustness, not only peak performance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Takeaway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sparse KG is the regime this thesis targets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04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Design Challenge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Observed tension in prior KG-aware methods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KG entity embeddings participate directly in message passing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the implicit assumption is that KG can inject useful signal everywhere it appears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under sparse KG, that assumption breaks down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Why LightGCN wins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It uses only user-item interactions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No KG contamination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Strong safe default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Our response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route KG signal through a dedicated side channel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let the model attenuate or fully disengage KG when unreliable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05</a:t>
            </a:r>
            <a:endParaRPr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Research Question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Research question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How can a recommender use KG when it helps, but avoid KG contamination when KG is sparse or unreliable?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RA-GARK answer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KG should be a gateable side channel.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06</a:t>
            </a:r>
            <a:endParaRPr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Related Work I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LightGCN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immediate predecessor of our local view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strong non-KG anchor on sparse review KG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KGAT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canonical deep-fusion approach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KG entities participate directly in propagation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Position of RA-GARK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adopt LightGCN verbatim as local view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isolate KG signal into a separate global view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07</a:t>
            </a:r>
            <a:endParaRPr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Related Work II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Contrastive KG methods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KGCL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MCCLK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Assumption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KG structure remains informative under perturbation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collaborative, semantic, and structural views can be aligned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Sparse-KG issue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sparse or perturbed KG gives weak supervision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contrastive alignment may become noise-dominated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08</a:t>
            </a:r>
            <a:endParaRPr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Related Work III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500" lang="zh-TW" b="1">
                <a:solidFill>
                  <a:srgbClr val="1C2430"/>
                </a:solidFill>
              </a:rPr>
              <a:t>KGRec vs RA-GARK</a:t>
            </a:r>
            <a:endParaRPr sz="1500"/>
          </a:p>
          <a:p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Axis | KGRec | RA-GARK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|---|---|---|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Granularity | KG edge | latent aspect slot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Selection | Bernoulli dropout + CL | softmax attention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Integration | inside KGAT propagation | separate side channel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KG trust | cannot disengage KG | can suppress KG |</a:t>
            </a:r>
            <a:endParaRPr sz="1500"/>
          </a:p>
          <a:p>
            <a:endParaRPr sz="1500"/>
          </a:p>
          <a:p>
            <a:r>
              <a:rPr sz="1500" lang="zh-TW" b="1">
                <a:solidFill>
                  <a:srgbClr val="1C2430"/>
                </a:solidFill>
              </a:rPr>
              <a:t>Main difference</a:t>
            </a:r>
            <a:endParaRPr sz="1500"/>
          </a:p>
          <a:p>
            <a:endParaRPr sz="1500"/>
          </a:p>
          <a:p>
            <a:r>
              <a:rPr sz="1500" lang="zh-TW">
                <a:solidFill>
                  <a:srgbClr val="1C2430"/>
                </a:solidFill>
              </a:rPr>
              <a:t>KGRec assumes useful edges exist; RA-GARK assumes the whole KG channel may be unreliable.</a:t>
            </a:r>
            <a:endParaRPr sz="15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09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Related Work IV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Gating gap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Highway Networks: bias toward a safe identity path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MMoE / PLE: gate over expert towers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SGL / DCCF: alignment over views from the same graph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Gap in KG-aware recommendation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no bias-initialized fusion gate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no architectural graceful degradation under sparse or unreliable KG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10</a:t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Design Principle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RA-GARK principle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KG should be a gateable side channel, not a mandatory scoring component.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Three consequences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separate local and global views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fuse late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bias the gate toward LightGCN at initialization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11</a:t>
            </a:r>
            <a:endParaRPr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Overview</a:t>
            </a:r>
            <a:endParaRPr sz="2400"/>
          </a:p>
        </p:txBody>
      </p:sp>
      <p:pic>
        <p:nvPicPr>
          <p:cNvPr id="5" name="Slide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822960" y="1115568"/>
            <a:ext cx="10515600" cy="3063240"/>
          </a:xfrm>
          <a:prstGeom prst="rect">
            <a:avLst/>
          </a:prstGeom>
        </p:spPr>
      </p:pic>
      <p:sp>
        <p:nvSpPr>
          <p:cNvPr id="6" name="Body"/>
          <p:cNvSpPr txBox="1"/>
          <p:nvPr/>
        </p:nvSpPr>
        <p:spPr>
          <a:xfrm>
            <a:off x="566928" y="4434840"/>
            <a:ext cx="9838944" cy="2011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500" lang="zh-TW" b="1">
                <a:solidFill>
                  <a:srgbClr val="1C2430"/>
                </a:solidFill>
              </a:rPr>
              <a:t>Modules</a:t>
            </a:r>
            <a:endParaRPr sz="1500"/>
          </a:p>
          <a:p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Module | Output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|---|---|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Local View | `u_loc`, `i_loc`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Global View | `u_glo`, `i_glo`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Fusion Gate | `u_final`, `i_final`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Training Loss | ranking objective |</a:t>
            </a:r>
            <a:endParaRPr sz="15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12</a:t>
            </a:r>
            <a:endParaRPr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Problem Setup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Implicit top-K recommendation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rank unseen items for each user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train with positive and sampled negative pairs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Score</a:t>
            </a:r>
            <a:endParaRPr sz="1800"/>
          </a:p>
          <a:p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y_hat(u, i) = &lt;u_final, i_final&gt;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Fusion</a:t>
            </a:r>
            <a:endParaRPr sz="1800"/>
          </a:p>
          <a:p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u_final = alpha_u * u_loc + (1 - alpha_u) * u_glo</a:t>
            </a:r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i_final = alpha_i * i_loc + (1 - alpha_i) * i_glo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13</a:t>
            </a:r>
            <a:endParaRPr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Local View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Pure LightGCN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no KG in this branch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no nonlinear transform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no extra weights in propagation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Why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preserve a clean CF backbone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keep a safe fallback path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14</a:t>
            </a:r>
            <a:endParaRPr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Local Propagation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Graph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user-item bipartite graph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training interactions only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Propagation</a:t>
            </a:r>
            <a:endParaRPr sz="1800"/>
          </a:p>
          <a:p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E^(l+1) = A_norm E^(l)</a:t>
            </a:r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E_loc = average(E^(0), E^(1), ..., E^(K))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Setting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K = 2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output: `u_loc`, `i_loc`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15</a:t>
            </a:r>
            <a:endParaRPr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Global View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Why latent aspect slots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raw review-aspect KG is sparse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direct propagation is fragile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latent slots give a compact KG representation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Representation</a:t>
            </a:r>
            <a:endParaRPr sz="1800"/>
          </a:p>
          <a:p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item_kg_aspects[i] in R^(A x d)</a:t>
            </a:r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A = 4</a:t>
            </a:r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d = 128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16</a:t>
            </a:r>
            <a:endParaRPr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KG-SVD Step 1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Build item-aspect matrix</a:t>
            </a:r>
            <a:endParaRPr sz="1800"/>
          </a:p>
          <a:p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M[i, a] = 1 if item i has aspect a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IDF weighting</a:t>
            </a:r>
            <a:endParaRPr sz="1800"/>
          </a:p>
          <a:p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M_tilde[i, a] = M[i, a] * idf(a)</a:t>
            </a:r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idf(a) = log(N_items / support(a) + 1) + 1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Purpose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downweight generic aspects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keep discriminative aspects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17</a:t>
            </a:r>
            <a:endParaRPr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KG-SVD Step 2</a:t>
            </a:r>
            <a:endParaRPr sz="2400"/>
          </a:p>
        </p:txBody>
      </p:sp>
      <p:pic>
        <p:nvPicPr>
          <p:cNvPr id="5" name="Slide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822960" y="1115568"/>
            <a:ext cx="10515600" cy="3063240"/>
          </a:xfrm>
          <a:prstGeom prst="rect">
            <a:avLst/>
          </a:prstGeom>
        </p:spPr>
      </p:pic>
      <p:sp>
        <p:nvSpPr>
          <p:cNvPr id="6" name="Body"/>
          <p:cNvSpPr txBox="1"/>
          <p:nvPr/>
        </p:nvSpPr>
        <p:spPr>
          <a:xfrm>
            <a:off x="566928" y="4434840"/>
            <a:ext cx="9838944" cy="2011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500" lang="zh-TW" b="1">
                <a:solidFill>
                  <a:srgbClr val="1C2430"/>
                </a:solidFill>
              </a:rPr>
              <a:t>Truncated SVD</a:t>
            </a:r>
            <a:endParaRPr sz="1500"/>
          </a:p>
          <a:p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M_tilde ~= U Sigma V^T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E_KG = U sqrt(Sigma)</a:t>
            </a:r>
            <a:endParaRPr sz="1500"/>
          </a:p>
          <a:p>
            <a:endParaRPr sz="1500"/>
          </a:p>
          <a:p>
            <a:r>
              <a:rPr sz="1500" lang="zh-TW" b="1">
                <a:solidFill>
                  <a:srgbClr val="1C2430"/>
                </a:solidFill>
              </a:rPr>
              <a:t>Reshape</a:t>
            </a:r>
            <a:endParaRPr sz="1500"/>
          </a:p>
          <a:p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E_KG[i] -&gt; item_kg_aspects[i] in R^(4 x 128)</a:t>
            </a:r>
            <a:endParaRPr sz="1500"/>
          </a:p>
          <a:p>
            <a:endParaRPr sz="1500"/>
          </a:p>
          <a:p>
            <a:r>
              <a:rPr sz="1500" lang="zh-TW" b="1">
                <a:solidFill>
                  <a:srgbClr val="1C2430"/>
                </a:solidFill>
              </a:rPr>
              <a:t>Why</a:t>
            </a:r>
            <a:endParaRPr sz="1500"/>
          </a:p>
          <a:p>
            <a:endParaRPr sz="1500"/>
          </a:p>
          <a:p>
            <a:r>
              <a:rPr sz="1500" lang="zh-TW">
                <a:solidFill>
                  <a:srgbClr val="1C2430"/>
                </a:solidFill>
              </a:rPr>
              <a:t>• give KG a semantic starting geometry</a:t>
            </a:r>
            <a:endParaRPr sz="1500"/>
          </a:p>
          <a:p>
            <a:r>
              <a:rPr sz="1500" lang="zh-TW">
                <a:solidFill>
                  <a:srgbClr val="1C2430"/>
                </a:solidFill>
              </a:rPr>
              <a:t>• preserve the aspect co-occurrence structure before training</a:t>
            </a:r>
            <a:endParaRPr sz="15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18</a:t>
            </a:r>
            <a:endParaRPr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KG-SVD Ablation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Model | NDCG@20 | MAP@20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|---|---:|---:|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RA-GARK (full) | 0.1243 | 0.0594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KG-SVD init | 0.1171 | 0.0545 |</a:t>
            </a:r>
            <a:endParaRPr sz="1500"/>
          </a:p>
          <a:p>
            <a:endParaRPr sz="1500"/>
          </a:p>
          <a:p>
            <a:r>
              <a:rPr sz="1500" lang="zh-TW" b="1">
                <a:solidFill>
                  <a:srgbClr val="1C2430"/>
                </a:solidFill>
              </a:rPr>
              <a:t>Observation</a:t>
            </a:r>
            <a:endParaRPr sz="1500"/>
          </a:p>
          <a:p>
            <a:endParaRPr sz="1500"/>
          </a:p>
          <a:p>
            <a:r>
              <a:rPr sz="1500" lang="zh-TW">
                <a:solidFill>
                  <a:srgbClr val="1C2430"/>
                </a:solidFill>
              </a:rPr>
              <a:t>• KG-SVD preserves the initial semantic geometry</a:t>
            </a:r>
            <a:endParaRPr sz="15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19</a:t>
            </a:r>
            <a:endParaRPr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Softmax Masking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Goal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Select which aspect slot should represent the item for a given user-item pair.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Computation</a:t>
            </a:r>
            <a:endParaRPr sz="1800"/>
          </a:p>
          <a:p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logit_k = MLP([u_glo || aspect_slot_i,k])</a:t>
            </a:r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w_k = softmax(logit_k / tau)</a:t>
            </a:r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i_glo = sum_k w_k * aspect_slot_i,k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Why user-conditioned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different users care about different item aspects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20</a:t>
            </a:r>
            <a:endParaRPr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Softmax vs Sigmoid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Normalization assumption</a:t>
            </a:r>
            <a:endParaRPr sz="1800"/>
          </a:p>
          <a:p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Normalization | Assumption |</a:t>
            </a:r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|---|---|</a:t>
            </a:r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Sigmoid | each slot is independently important |</a:t>
            </a:r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Softmax | slots compete under fixed mass |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In RA-GARK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softmax controls both weight competition and output magnitude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this matters because the KG channel is intentionally throttled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21</a:t>
            </a:r>
            <a:endParaRPr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Softmax Ablation</a:t>
            </a:r>
            <a:endParaRPr sz="2400"/>
          </a:p>
        </p:txBody>
      </p:sp>
      <p:pic>
        <p:nvPicPr>
          <p:cNvPr id="5" name="Slide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822960" y="1115568"/>
            <a:ext cx="10515600" cy="3063240"/>
          </a:xfrm>
          <a:prstGeom prst="rect">
            <a:avLst/>
          </a:prstGeom>
        </p:spPr>
      </p:pic>
      <p:sp>
        <p:nvSpPr>
          <p:cNvPr id="6" name="Body"/>
          <p:cNvSpPr txBox="1"/>
          <p:nvPr/>
        </p:nvSpPr>
        <p:spPr>
          <a:xfrm>
            <a:off x="566928" y="4434840"/>
            <a:ext cx="9838944" cy="2011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Model | NDCG@20 | MAP@20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|---|---:|---:|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RA-GARK (full) | 0.1243 | 0.0594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softmax head | 0.1005 | 0.0451 |</a:t>
            </a:r>
            <a:endParaRPr sz="1500"/>
          </a:p>
          <a:p>
            <a:endParaRPr sz="1500"/>
          </a:p>
          <a:p>
            <a:r>
              <a:rPr sz="1500" lang="zh-TW" b="1">
                <a:solidFill>
                  <a:srgbClr val="1C2430"/>
                </a:solidFill>
              </a:rPr>
              <a:t>Observation</a:t>
            </a:r>
            <a:endParaRPr sz="1500"/>
          </a:p>
          <a:p>
            <a:endParaRPr sz="1500"/>
          </a:p>
          <a:p>
            <a:r>
              <a:rPr sz="1500" lang="zh-TW">
                <a:solidFill>
                  <a:srgbClr val="1C2430"/>
                </a:solidFill>
              </a:rPr>
              <a:t>• softmax is the thesis-normalized rationale operator</a:t>
            </a:r>
            <a:endParaRPr sz="15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22</a:t>
            </a:r>
            <a:endParaRPr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Fusion Gate</a:t>
            </a:r>
            <a:endParaRPr sz="2400"/>
          </a:p>
        </p:txBody>
      </p:sp>
      <p:pic>
        <p:nvPicPr>
          <p:cNvPr id="5" name="Slide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822960" y="1115568"/>
            <a:ext cx="10515600" cy="3063240"/>
          </a:xfrm>
          <a:prstGeom prst="rect">
            <a:avLst/>
          </a:prstGeom>
        </p:spPr>
      </p:pic>
      <p:sp>
        <p:nvSpPr>
          <p:cNvPr id="6" name="Body"/>
          <p:cNvSpPr txBox="1"/>
          <p:nvPr/>
        </p:nvSpPr>
        <p:spPr>
          <a:xfrm>
            <a:off x="566928" y="4434840"/>
            <a:ext cx="9838944" cy="2011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500" lang="zh-TW" b="1">
                <a:solidFill>
                  <a:srgbClr val="1C2430"/>
                </a:solidFill>
              </a:rPr>
              <a:t>Gate</a:t>
            </a:r>
            <a:endParaRPr sz="1500"/>
          </a:p>
          <a:p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alpha_u = sigmoid(MLP_gate([u_loc || u_glo]))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alpha_i = sigmoid(MLP_gate([i_loc || i_glo]))</a:t>
            </a:r>
            <a:endParaRPr sz="1500"/>
          </a:p>
          <a:p>
            <a:endParaRPr sz="1500"/>
          </a:p>
          <a:p>
            <a:r>
              <a:rPr sz="1500" lang="zh-TW" b="1">
                <a:solidFill>
                  <a:srgbClr val="1C2430"/>
                </a:solidFill>
              </a:rPr>
              <a:t>Fusion</a:t>
            </a:r>
            <a:endParaRPr sz="1500"/>
          </a:p>
          <a:p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u_final = alpha_u * u_loc + (1 - alpha_u) * u_glo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i_final = alpha_i * i_loc + (1 - alpha_i) * i_glo</a:t>
            </a:r>
            <a:endParaRPr sz="15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23</a:t>
            </a:r>
            <a:endParaRPr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Gate Bias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Bias initialization</a:t>
            </a:r>
            <a:endParaRPr sz="1800"/>
          </a:p>
          <a:p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gate final bias = +5</a:t>
            </a:r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alpha_0 = sigmoid(+5) ~= 0.993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Meaning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start almost as LightGCN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open KG only when useful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24</a:t>
            </a:r>
            <a:endParaRPr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Graceful Degradation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500" lang="zh-TW" b="1">
                <a:solidFill>
                  <a:srgbClr val="1C2430"/>
                </a:solidFill>
              </a:rPr>
              <a:t>Graceful degradation</a:t>
            </a:r>
            <a:endParaRPr sz="1500"/>
          </a:p>
          <a:p>
            <a:endParaRPr sz="1500"/>
          </a:p>
          <a:p>
            <a:r>
              <a:rPr sz="1500" lang="zh-TW">
                <a:solidFill>
                  <a:srgbClr val="1C2430"/>
                </a:solidFill>
              </a:rPr>
              <a:t>If KG is not useful, RA-GARK falls back to LightGCN.</a:t>
            </a:r>
            <a:endParaRPr sz="1500"/>
          </a:p>
          <a:p>
            <a:endParaRPr sz="1500"/>
          </a:p>
          <a:p>
            <a:r>
              <a:rPr sz="1500" lang="zh-TW" b="1">
                <a:solidFill>
                  <a:srgbClr val="1C2430"/>
                </a:solidFill>
              </a:rPr>
              <a:t>Ablation</a:t>
            </a:r>
            <a:endParaRPr sz="1500"/>
          </a:p>
          <a:p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Model | NDCG@20 | MAP@20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|---|---:|---:|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RA-GARK (full) | 0.1243 | 0.0594 |</a:t>
            </a:r>
            <a:endParaRPr sz="1500"/>
          </a:p>
          <a:p>
            <a:r>
              <a:rPr sz="15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fusion-gate bias | 0.1194 | 0.0555 |</a:t>
            </a:r>
            <a:endParaRPr sz="1500"/>
          </a:p>
          <a:p>
            <a:endParaRPr sz="1500"/>
          </a:p>
          <a:p>
            <a:r>
              <a:rPr sz="1500" lang="zh-TW" b="1">
                <a:solidFill>
                  <a:srgbClr val="1C2430"/>
                </a:solidFill>
              </a:rPr>
              <a:t>Observation</a:t>
            </a:r>
            <a:endParaRPr sz="1500"/>
          </a:p>
          <a:p>
            <a:endParaRPr sz="1500"/>
          </a:p>
          <a:p>
            <a:r>
              <a:rPr sz="1500" lang="zh-TW">
                <a:solidFill>
                  <a:srgbClr val="1C2430"/>
                </a:solidFill>
              </a:rPr>
              <a:t>• the bias initialization is part of the architecture, not a tuning trick</a:t>
            </a:r>
            <a:endParaRPr sz="15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25</a:t>
            </a:r>
            <a:endParaRPr sz="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Contrastive Regularization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Main objective</a:t>
            </a:r>
            <a:endParaRPr sz="1800"/>
          </a:p>
          <a:p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L = L_BPR + lambda_CL (L_aCL + L_uCL)</a:t>
            </a:r>
            <a:endParaRPr sz="1800"/>
          </a:p>
          <a:p>
            <a:r>
              <a:rPr sz="18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lambda_CL = 0.005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Role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auxiliary only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weak alignment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not the main fusion mechanism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Conservative design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small weight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stop-gradient on KG side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projection head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26</a:t>
            </a:r>
            <a:endParaRPr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Training Setup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Dataset signal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905 users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1,399 items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22,265 interactions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3,370 KG edges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2,098 aspects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Training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Adam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learning rate 1e-3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batch size 128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80 epochs with early stopping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27</a:t>
            </a:r>
            <a:endParaRPr sz="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Evaluation Setup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Evaluation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full ranking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exclude training interactions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metrics: HR, Precision, Recall, F1, MAP, NDCG @20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Efficiency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about 1.5 seconds per epoch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comparable to KGRec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no extra training burden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28</a:t>
            </a:r>
            <a:endParaRPr sz="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Main Results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Model | NDCG@20 | HR@20 | Recall@20 | MAP@20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|---|---:|---:|---:|---:|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MCCLK | 0.1067 | 0.4530 | 0.1720 | 0.0497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KGCL | 0.1073 | 0.4696 | 0.1827 | 0.0479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KGAT | 0.1079 | 0.4773 | 0.1807 | 0.0491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KGRec | 0.1095 | 0.4729 | 0.1834 | 0.0500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LightGCN | 0.1179 | 0.4917 | 0.1937 | 0.0555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RA-GARK | 0.1243 | 0.4972 | 0.2020 | 0.0594 |</a:t>
            </a:r>
            <a:endParaRPr sz="1100"/>
          </a:p>
          <a:p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Model | NDCG@10 | HR@10 | Recall@10 | MAP@10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|---|---:|---:|---:|---:|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MCCLK | 0.0804 | 0.3182 | 0.1047 | 0.0416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KGCL | 0.0809 | 0.3260 | 0.1096 | 0.0410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KGAT | 0.0786 | 0.3215 | 0.1102 | 0.0388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KGRec | 0.0874 | 0.3249 | 0.1155 | 0.0465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LightGCN | 0.0908 | 0.3436 | 0.1201 | 0.0483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RA-GARK | 0.0966 | 0.3558 | 0.1265 | 0.0520 |</a:t>
            </a:r>
            <a:endParaRPr sz="1100"/>
          </a:p>
          <a:p>
            <a:endParaRPr sz="1100"/>
          </a:p>
          <a:p>
            <a:r>
              <a:rPr sz="1100" lang="zh-TW" b="1">
                <a:solidFill>
                  <a:srgbClr val="1C2430"/>
                </a:solidFill>
              </a:rPr>
              <a:t>Key point</a:t>
            </a:r>
            <a:endParaRPr sz="1100"/>
          </a:p>
          <a:p>
            <a:endParaRPr sz="1100"/>
          </a:p>
          <a:p>
            <a:r>
              <a:rPr sz="1100" lang="zh-TW">
                <a:solidFill>
                  <a:srgbClr val="1C2430"/>
                </a:solidFill>
              </a:rPr>
              <a:t>• RA-GARK is best at both Top-20 and Top-10.</a:t>
            </a:r>
            <a:endParaRPr sz="11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29</a:t>
            </a:r>
            <a:endParaRPr sz="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Ablation Summary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Model | NDCG@20 | MAP@20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|---|---:|---:|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RA-GARK (full) | 0.1243 | 0.0594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softmax head | 0.1005 | 0.0451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KG-SVD init | 0.1171 | 0.0545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fusion-gate bias | 0.1194 | 0.0555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MLP gate | 0.1180 | 0.0552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user CL ($\mathcal{L}_{\mathrm{uCL}}$) | 0.1192 | 0.0563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aspect CL ($\mathcal{L}_{\mathrm{aCL}}$) | 0.1200 | 0.0570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rationale-enabled selection | 0.1213 | 0.0568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global view (CL-only dual view) | 0.1219 | 0.0575 |</a:t>
            </a:r>
            <a:endParaRPr sz="1100"/>
          </a:p>
          <a:p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Model | NDCG@10 | MAP@10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|---|---:|---:|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RA-GARK (full) | 0.0960 | 0.0519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softmax head | 0.0785 | 0.0397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KG-SVD init | 0.0922 | 0.0479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fusion-gate bias | 0.0923 | 0.0482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MLP gate | 0.0926 | 0.0484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user CL ($\mathcal{L}_{\mathrm{uCL}}$) | 0.0924 | 0.0492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aspect CL ($\mathcal{L}_{\mathrm{aCL}}$) | 0.0940 | 0.0502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rationale-enabled selection | 0.0943 | 0.0495 |</a:t>
            </a:r>
            <a:endParaRPr sz="1100"/>
          </a:p>
          <a:p>
            <a:r>
              <a:rPr sz="1100" lang="en-US">
                <a:solidFill>
                  <a:srgbClr val="1C2430"/>
                </a:solidFill>
                <a:latin typeface="Courier New"/>
                <a:ea typeface="Courier New"/>
                <a:cs typeface="Courier New"/>
              </a:rPr>
              <a:t>| w/o global view (CL-only dual view) | 0.0949 | 0.0504 |</a:t>
            </a:r>
            <a:endParaRPr sz="1100"/>
          </a:p>
          <a:p>
            <a:endParaRPr sz="1100"/>
          </a:p>
          <a:p>
            <a:r>
              <a:rPr sz="1100" lang="zh-TW" b="1">
                <a:solidFill>
                  <a:srgbClr val="1C2430"/>
                </a:solidFill>
              </a:rPr>
              <a:t>Takeaway</a:t>
            </a:r>
            <a:endParaRPr sz="1100"/>
          </a:p>
          <a:p>
            <a:endParaRPr sz="1100"/>
          </a:p>
          <a:p>
            <a:r>
              <a:rPr sz="1100" lang="zh-TW">
                <a:solidFill>
                  <a:srgbClr val="1C2430"/>
                </a:solidFill>
              </a:rPr>
              <a:t>• the core architecture rows dominate the ranking loss</a:t>
            </a:r>
            <a:endParaRPr sz="11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30</a:t>
            </a:r>
            <a:endParaRPr sz="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Case Study and Takeaways</a:t>
            </a:r>
            <a:endParaRPr sz="2400"/>
          </a:p>
        </p:txBody>
      </p:sp>
      <p:pic>
        <p:nvPicPr>
          <p:cNvPr id="5" name="Slide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822960" y="1115568"/>
            <a:ext cx="10515600" cy="3063240"/>
          </a:xfrm>
          <a:prstGeom prst="rect">
            <a:avLst/>
          </a:prstGeom>
        </p:spPr>
      </p:pic>
      <p:sp>
        <p:nvSpPr>
          <p:cNvPr id="6" name="Body"/>
          <p:cNvSpPr txBox="1"/>
          <p:nvPr/>
        </p:nvSpPr>
        <p:spPr>
          <a:xfrm>
            <a:off x="566928" y="4434840"/>
            <a:ext cx="9838944" cy="2011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500" lang="zh-TW" b="1">
                <a:solidFill>
                  <a:srgbClr val="1C2430"/>
                </a:solidFill>
              </a:rPr>
              <a:t>Takeaways</a:t>
            </a:r>
            <a:endParaRPr sz="1500"/>
          </a:p>
          <a:p>
            <a:endParaRPr sz="1500"/>
          </a:p>
          <a:p>
            <a:r>
              <a:rPr sz="1500" lang="zh-TW">
                <a:solidFill>
                  <a:srgbClr val="1C2430"/>
                </a:solidFill>
              </a:rPr>
              <a:t>• different items activate different aspect slots</a:t>
            </a:r>
            <a:endParaRPr sz="1500"/>
          </a:p>
          <a:p>
            <a:r>
              <a:rPr sz="1500" lang="zh-TW">
                <a:solidFill>
                  <a:srgbClr val="1C2430"/>
                </a:solidFill>
              </a:rPr>
              <a:t>• rationale masking gives interpretability</a:t>
            </a:r>
            <a:endParaRPr sz="1500"/>
          </a:p>
          <a:p>
            <a:r>
              <a:rPr sz="1500" lang="zh-TW">
                <a:solidFill>
                  <a:srgbClr val="1C2430"/>
                </a:solidFill>
              </a:rPr>
              <a:t>• the model is not only accurate, it also shows which slot is used</a:t>
            </a:r>
            <a:endParaRPr sz="15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31</a:t>
            </a:r>
            <a:endParaRPr sz="9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3" name="HeaderAccent"/>
          <p:cNvSpPr txBox="1"/>
          <p:nvPr/>
        </p:nvSpPr>
        <p:spPr>
          <a:xfrm>
            <a:off x="0" y="731520"/>
            <a:ext cx="12192000" cy="54864"/>
          </a:xfrm>
          <a:prstGeom prst="rect">
            <a:avLst/>
          </a:prstGeom>
          <a:solidFill>
            <a:srgbClr val="2B8AA3"/>
          </a:solidFill>
          <a:ln>
            <a:noFill/>
          </a:ln>
        </p:spPr>
        <p:txBody>
          <a:bodyPr wrap="square"/>
          <a:lstStyle/>
          <a:p>
            <a:endParaRPr/>
          </a:p>
        </p:txBody>
      </p:sp>
      <p:sp>
        <p:nvSpPr>
          <p:cNvPr id="4" name="SlideTitle"/>
          <p:cNvSpPr txBox="1"/>
          <p:nvPr/>
        </p:nvSpPr>
        <p:spPr>
          <a:xfrm>
            <a:off x="566928" y="164592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2400" b="1" lang="zh-TW">
                <a:solidFill>
                  <a:srgbClr val="FFFFFF"/>
                </a:solidFill>
              </a:rPr>
              <a:t>Conclusion</a:t>
            </a:r>
            <a:endParaRPr sz="2400"/>
          </a:p>
        </p:txBody>
      </p:sp>
      <p:sp>
        <p:nvSpPr>
          <p:cNvPr id="6" name="Body"/>
          <p:cNvSpPr txBox="1"/>
          <p:nvPr/>
        </p:nvSpPr>
        <p:spPr>
          <a:xfrm>
            <a:off x="566928" y="1024128"/>
            <a:ext cx="9838944" cy="5422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sz="1800" lang="zh-TW" b="1">
                <a:solidFill>
                  <a:srgbClr val="1C2430"/>
                </a:solidFill>
              </a:rPr>
              <a:t>Conclusion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When the KG is unreliable, what an architecture most needs is not a better KG aggregator but a structural switch by which the KG can be opted out of.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Contributions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gateable KG side channel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KG-SVD initialization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softmax rationale masking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local-biased fusion gate</a:t>
            </a:r>
            <a:endParaRPr sz="1800"/>
          </a:p>
          <a:p>
            <a:endParaRPr sz="1800"/>
          </a:p>
          <a:p>
            <a:r>
              <a:rPr sz="1800" lang="zh-TW" b="1">
                <a:solidFill>
                  <a:srgbClr val="1C2430"/>
                </a:solidFill>
              </a:rPr>
              <a:t>Limitations</a:t>
            </a:r>
            <a:endParaRPr sz="1800"/>
          </a:p>
          <a:p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one sparse review-aspect KG dataset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KG construction pipeline is adopted</a:t>
            </a:r>
            <a:endParaRPr sz="1800"/>
          </a:p>
          <a:p>
            <a:r>
              <a:rPr sz="1800" lang="zh-TW">
                <a:solidFill>
                  <a:srgbClr val="1C2430"/>
                </a:solidFill>
              </a:rPr>
              <a:t>• dense-KG settings may still favor deep fusion</a:t>
            </a:r>
            <a:endParaRPr sz="1800"/>
          </a:p>
        </p:txBody>
      </p:sp>
      <p:sp>
        <p:nvSpPr>
          <p:cNvPr id="30" name="SlideNumber"/>
          <p:cNvSpPr txBox="1"/>
          <p:nvPr/>
        </p:nvSpPr>
        <p:spPr>
          <a:xfrm>
            <a:off x="11064240" y="6272784"/>
            <a:ext cx="502920" cy="201168"/>
          </a:xfrm>
          <a:noFill/>
          <a:ln>
            <a:noFill/>
          </a:ln>
        </p:spPr>
        <p:txBody>
          <a:bodyPr/>
          <a:lstStyle/>
          <a:p>
            <a:r>
              <a:rPr sz="900" lang="en-US">
                <a:solidFill>
                  <a:srgbClr val="8A93A0"/>
                </a:solidFill>
              </a:rPr>
              <a:t>32</a:t>
            </a:r>
            <a:endParaRPr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ep:Properties xmlns:ep="http://schemas.openxmlformats.org/officeDocument/2006/extended-properties" xmlns:vt="http://schemas.openxmlformats.org/officeDocument/2006/docPropsVTypes">
  <ep:TotalTime>4050</ep:TotalTime>
  <ep:Words>341</ep:Words>
  <ep:Application>Microsoft Macintosh PowerPoint</ep:Application>
  <ep:PresentationFormat>寬螢幕</ep:PresentationFormat>
  <ep:Paragraphs>162</ep:Paragraphs>
  <ep:Slides>32</ep:Slides>
  <ep:Notes>4</ep:Notes>
  <ep:HiddenSlides>0</ep:HiddenSlides>
  <ep:MMClips>0</ep:MMClips>
  <ep:ScaleCrop>false</ep:ScaleCrop>
  <ep: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ep:HeadingPairs>
  <ep:TitlesOfParts>
    <vt:vector size="12" baseType="lpstr">
      <vt:lpstr>Mona Sans VF</vt:lpstr>
      <vt:lpstr>Arial</vt:lpstr>
      <vt:lpstr>Calibri</vt:lpstr>
      <vt:lpstr>Calibri Light</vt:lpstr>
      <vt:lpstr>Cambria Math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ep:TitlesOfParts>
  <ep:Company/>
  <ep:LinksUpToDate>false</ep:LinksUpToDate>
  <ep:SharedDoc>false</ep:SharedDoc>
  <ep:HyperlinksChanged>false</ep:HyperlinksChanged>
  <ep:AppVersion>16.0000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珮芝 徐</dc:creator>
  <cp:lastModifiedBy>珮芝 徐</cp:lastModifiedBy>
  <cp:revision>20</cp:revision>
  <dcterms:created xsi:type="dcterms:W3CDTF">2026-05-18T20:33:34Z</dcterms:created>
  <dcterms:modified xsi:type="dcterms:W3CDTF">2026-06-11T07:01:37Z</dcterms:modified>
</cp:coreProperties>
</file>